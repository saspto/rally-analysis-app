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885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809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7733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91695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960120"/>
            <a:ext cx="658368" cy="438912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98755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D5EA"/>
                </a:solidFill>
              </a:rPr>
              <a:t>INNOVATION DEMO  ·  ENGINEERING &amp; PROJECT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Rally Analysis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CBD5E1"/>
                </a:solidFill>
              </a:rPr>
              <a:t>AI-Powered Sprint Analytics &amp; Executive Reporting for Rally / CA Agile Central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200"/>
            <a:ext cx="2788920" cy="38404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044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Automated daily exports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79" y="3886200"/>
            <a:ext cx="2788920" cy="38404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39044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AI summaries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886200"/>
            <a:ext cx="2788920" cy="38404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044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Sprint analytics &amp; insights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455664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Presented by the Engineering &amp; Cloud Administration Team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601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Challenge: Rally Data Without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5D5EA"/>
                </a:solidFill>
              </a:rPr>
              <a:t>Rally holds all your project data — but generating insights requires hours of manual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3A5F"/>
                </a:solidFill>
              </a:rPr>
              <a:t>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spent weekly writing
sprint summaries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3A5F"/>
                </a:solidFill>
              </a:rPr>
              <a:t>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tools open to answer
one status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3A5F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minutes execs spend
reading raw CSV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1704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3A5F"/>
                </a:solidFill>
              </a:rPr>
              <a:t>Manual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copy-paste process
from Rally to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33472"/>
            <a:ext cx="111861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15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Pain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247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1272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Generating sprint summaries is a 2–3 hour manual process at end of every sprint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819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5844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Rally exports are raw CSV — no narrative context, no insights, no executive language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391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0416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Analytics require pivot tables, formulas, and manual chart building in Excel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963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4988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Stale or blocked stories go unnoticed until stand-ups — too late to 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535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9560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Different stakeholders need different formats: engineering vs. C-suite vs. PM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94192" y="2743200"/>
            <a:ext cx="3310128" cy="312724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2715768"/>
            <a:ext cx="33101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2816352"/>
            <a:ext cx="3072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The Opportunity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3182112"/>
            <a:ext cx="307238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Automate every step — daily export, AI narrative generation, analytics computation — so your team gets insights without the manual grind.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5EA"/>
                </a:solidFill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Rally Analysis App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1993392" cy="10058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Rally
(CA Agile Central)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Features, Stories,
Tasks via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1207008"/>
            <a:ext cx="19933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Fetcher
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Daily 3PM EST
+ on-demand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207008"/>
            <a:ext cx="1993392" cy="1005840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Exports
Bucket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CSV per day
with presigned URLs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5744" y="1207008"/>
            <a:ext cx="199339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Summary
Lambda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Claude Opus 4
3 summary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1207008"/>
            <a:ext cx="199339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Summaries
+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JSON summaries
+ analytics 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24231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▼  Presentation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2788920"/>
            <a:ext cx="199339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EventBridge
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Daily cron
3 PM 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31363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2788920"/>
            <a:ext cx="19933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96896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API Gateway
HTTP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6896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5 endpoints
CORS enabled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31363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788920"/>
            <a:ext cx="1993392" cy="10058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CloudFront CDN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Global delivery
+ OAC for S3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76" y="31363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D5EA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95744" y="2788920"/>
            <a:ext cx="199339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95744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React SPA (S3)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TypeScript + Vite
Tailwind CSS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40050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Tech Stack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4297680"/>
            <a:ext cx="1865376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Python 3.12 · Lambda arm64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04288" y="4297680"/>
            <a:ext cx="1865376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Anthropic Claude Opus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4297680"/>
            <a:ext cx="1865376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4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Rally REST API v2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297680"/>
            <a:ext cx="1865376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React 18 + TypeScript + Vite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4736" y="4297680"/>
            <a:ext cx="1865376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74736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Recharts · jsPDF · docx · xlsx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31552" y="4297680"/>
            <a:ext cx="1865376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AWS SAM (Infrastructure as Code)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Everything Your Team Needs — 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5D5EA"/>
                </a:solidFill>
              </a:rPr>
              <a:t>From daily Rally exports to AI-generated executive reports — zero manual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97864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170432"/>
            <a:ext cx="73152" cy="16642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26187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Automated Daily Exports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EventBridge triggers a Lambda every day at 3 PM EST to pull Features, Stories, and Tasks from Rally. CSV saved to S3 with presigned download URLs.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2232964"/>
            <a:ext cx="9144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Zero manual export steps ever again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525572"/>
            <a:ext cx="9144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774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On-demand trigger also available in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197864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7096" y="1170432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170432"/>
            <a:ext cx="73152" cy="16642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126187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Three AI Summary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Claude Opus 4 generates Weekly, Monthly, and Quarterly summaries — each tailored to audience. Main narrative, executive 2-pager, and per-story detail.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223296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0848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Main summary: 4,096 tokens of narrative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2525572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23774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Executive: C-suite focused, metrics-first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1197864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1170432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1170432"/>
            <a:ext cx="73152" cy="16642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126187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Sprint Analytics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4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Automatic computation of burndown, velocity, cycle time, and resource allocation from raw Rally data. No spreadsheets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223296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20848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Burn charts: actual vs. ideal per sprint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2525572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23774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Velocity trend across rolling sprints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953512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2926080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2926080"/>
            <a:ext cx="73152" cy="16642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01752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Stale Story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3328416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Automatically surfaces stories not updated in 7+ days. Warning at 7d, critical at 14d. Sorted by severity so the most blocked items appear first.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" y="3988612"/>
            <a:ext cx="9144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Warning threshold: 7 days without update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" y="4281220"/>
            <a:ext cx="9144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133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Critical threshold: 14+ days — acts as blocker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2953512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97096" y="2926080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97096" y="2926080"/>
            <a:ext cx="73152" cy="16642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6" y="301752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Multi-Format Export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6" y="3328416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Download any summary as PDF, Word DOCX, or Excel XLSX with a single click. Each format is properly structured with headings, bullets, and tables.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4256" y="3988612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8848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PDF via jsPDF with markdown rendering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4256" y="428122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4133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DOCX via docx library — ready to email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37576" y="2953512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10144" y="2926080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10144" y="2926080"/>
            <a:ext cx="73152" cy="16642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47304" y="301752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Cycle Time &amp; Outlier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47304" y="3328416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Tracks story creation to acceptance date. Flags statistical outliers at mean + 1.5σ so teams can investigate systemic delays proactively.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47304" y="3988612"/>
            <a:ext cx="91440" cy="914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11896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Mean + 1.5σ outlier threshold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47304" y="4281220"/>
            <a:ext cx="91440" cy="914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1896" y="4133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Owner-level breakdown for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5EA"/>
                </a:solidFill>
              </a:rPr>
              <a:t>LIVE DEMO — EXPORTS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Exports Dashboard — Daily CSV Exports from Rally</a:t>
            </a:r>
          </a:p>
        </p:txBody>
      </p:sp>
      <p:pic>
        <p:nvPicPr>
          <p:cNvPr id="6" name="Picture 5" descr="screen_ex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7662672" cy="5907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841248"/>
            <a:ext cx="2852928" cy="5907024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841248"/>
            <a:ext cx="54864" cy="5907024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00584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D5EA"/>
                </a:solidFill>
              </a:rPr>
              <a:t>KEY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2" y="1371600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371600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3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Auto-export runs
daily at 3 PM 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2231136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2231136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225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Manual trigger
available on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3090672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3090672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1821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Feature / Story / Task
counts per export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950208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3950208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Presigned S3 URLs
for secure download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4809744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2" y="4809744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9011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Full export history
retained in S3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5669279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5669279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576071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CSV format for
downstream tooling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5EA"/>
                </a:solidFill>
              </a:rPr>
              <a:t>LIVE DEMO —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Analytics Dashboard — Sprint Burndown, Velocity &amp; Stale Stories</a:t>
            </a:r>
          </a:p>
        </p:txBody>
      </p:sp>
      <p:pic>
        <p:nvPicPr>
          <p:cNvPr id="6" name="Picture 5" descr="screen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7662672" cy="5907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841248"/>
            <a:ext cx="2852928" cy="5907024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841248"/>
            <a:ext cx="54864" cy="5907024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00584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D5EA"/>
                </a:solidFill>
              </a:rPr>
              <a:t>KEY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2" y="1371600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371600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3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 KPI cards: stories,
points, velocity, cycle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2231136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2231136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225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Burndown: actual vs
ideal line per sprint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3090672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3090672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1821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Three sprints shown:
Apr / May / Jun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950208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3950208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Resource allocation
by team member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4809744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2" y="4809744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9011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Stale story table
with severity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5669279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5669279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576071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Outlier detection
at mean + 1.5 sigma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5EA"/>
                </a:solidFill>
              </a:rPr>
              <a:t>LIVE DEMO — AI SUMMARY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AI Summary Page — Claude-Generated Narrative Summaries</a:t>
            </a:r>
          </a:p>
        </p:txBody>
      </p:sp>
      <p:pic>
        <p:nvPicPr>
          <p:cNvPr id="6" name="Picture 5" descr="scree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7662672" cy="5907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841248"/>
            <a:ext cx="2852928" cy="5907024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841248"/>
            <a:ext cx="54864" cy="5907024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00584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D5EA"/>
                </a:solidFill>
              </a:rPr>
              <a:t>KEY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2" y="1371600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371600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3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Date range picker +
Weekly/Monthly/Quarterly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2231136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2231136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225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 live metrics from
Rally export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3090672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3090672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1821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Full narrative summary
generated by Claude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950208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3950208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One-click export:
PDF, DOCX, or Excel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4809744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2" y="4809744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9011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Navigate to Executive
or Detailed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5669279"/>
            <a:ext cx="2596896" cy="7498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5669279"/>
            <a:ext cx="36576" cy="7498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576071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Structured markdown:
Overview, Risks,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Who Uses It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5D5EA"/>
                </a:solidFill>
              </a:rPr>
              <a:t>Every role in the delivery chain gets what they need —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97864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170432"/>
            <a:ext cx="3703320" cy="640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2893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Engineering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591056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Every Friday afternoon, open the app, select the last 2-week sprint, and generate a Monthly summary. Download as DOCX and paste into the sprint retrospective doc in 2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2670048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883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5F9E"/>
                </a:solidFill>
              </a:rPr>
              <a:t>Summary type: Monthly · Download: DOCX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197864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7096" y="1170432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7096" y="1170432"/>
            <a:ext cx="370332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2893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C-Suite / Executive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1591056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Receive a weekly Executive Summary email (Slack/SNS roadmap item) with portfolio health status, velocity trend, and any active blockers — no Rally login required.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2670048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6883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6A34A"/>
                </a:solidFill>
              </a:rPr>
              <a:t>Executive Summary · Metrics · Health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1197864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170432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170432"/>
            <a:ext cx="370332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12893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Scrum Master / Agile Coach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1591056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Open Analytics before daily stand-up to check the stale stories table. Immediately see which stories have gone silent and who owns them.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2670048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26883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A580C"/>
                </a:solidFill>
              </a:rPr>
              <a:t>Analytics → Stale &amp; Blocked Stories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099816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072384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072384"/>
            <a:ext cx="37033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1912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Portfolio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493008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Select a full quarter date range and generate a Quarterly summary. Download as PDF for inclusion in the QBR deck — done in under 5 minutes.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" y="4572000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563EB"/>
                </a:solidFill>
              </a:rPr>
              <a:t>Summary type: Quarterly · Download: PDF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3099816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3072384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97096" y="3072384"/>
            <a:ext cx="37033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31912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Release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6824" y="3493008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Use the cycle time chart to identify which story types consistently become outliers. Feed findings into the Definition of Ready to prevent future delays.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06824" y="4572000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5CF6"/>
                </a:solidFill>
              </a:rPr>
              <a:t>Analytics → Cycle Time Analysis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7576" y="3099816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10144" y="3072384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0144" y="3072384"/>
            <a:ext cx="37033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31912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Engineering Lead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3493008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Review the Resource Allocation chart to spot team members who are overloaded (high actual vs. estimated hours) or under-utilized before the next sprint planning.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19872" y="4572000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4736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F4444"/>
                </a:solidFill>
              </a:rPr>
              <a:t>Analytics → Resource Allocation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5EA"/>
                </a:solidFill>
              </a:rPr>
              <a:t>AI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How Claude Opus 4 Transforms Raw Rally Data Into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029200" cy="5376672"/>
          </a:xfrm>
          <a:prstGeom prst="rect">
            <a:avLst/>
          </a:prstGeom>
          <a:solidFill>
            <a:srgbClr val="0A182E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RAW RALLY EXPORT (CSV)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DD3FC"/>
                </a:solidFill>
              </a:rPr>
              <a:t>FormattedID,Name,State,Owner,Points,CreationDate,AcceptedDate
US-001,User auth flow,Accepted,Alice Johnson,8,2026-04-01,2026-04-09
US-002,Dashboard layout,Accepted,Bob Smith,5,2026-04-01,2026-04-08
US-003,Data export CSV,Accepted,Alice Johnson,13,2026-04-02,2026-04-10
US-004,OAuth integration,In-Progress,Carol Davis,5,2026-04-03,
US-005,Search/filter UI,Completed,Bob Smith,3,2026-04-04,
US-006,Real-time refresh,In-Progress,Eve Martinez,8,2026-03-01,
US-007,API rate limiting,In-Progress,Grace Kim,5,2026-03-15,
US-008,Webhook events,Defined,Henry Wang,8,2026-02-28,
F-001,Customer Portal,Accepted,,,2026-03-15,2026-04-10
F-002,API Integration,In-Progress,,,2026-03-20,
F-003,Performance Opt.,Defined,,,2026-04-01,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5F9E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376732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5EA"/>
                </a:solidFill>
              </a:rPr>
              <a:t>Claude
Opus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1968" y="987552"/>
            <a:ext cx="5029200" cy="5376672"/>
          </a:xfrm>
          <a:prstGeom prst="rect">
            <a:avLst/>
          </a:prstGeom>
          <a:solidFill>
            <a:srgbClr val="0A201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042415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AI-GENERATED SUMMARY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3533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summary type: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609344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D5EA"/>
                </a:solidFill>
              </a:rPr>
              <a:t>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41401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narrative: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67004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</a:rPr>
              <a:t>The team delivered strong results this week,
completing 5 user stories (34 story points)
across the Customer Portal and API Integration
features. Feature F-001 reached full acceptance.
Team velocity of 38 pts exceeds the 30-pt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4747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metrics: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373075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features_completed: 1
stories_completed:  5
stories_in_progress: 3
tasks_completed:    11
total_points:       34
team_velocity:      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45354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risks: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791456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BA74"/>
                </a:solidFill>
              </a:rPr>
              <a:t>US-008 (Henry Wang) — 45 days stale
Recommend escalation before next sprint.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Lightweight, Secure, and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5D5EA"/>
                </a:solidFill>
              </a:rPr>
              <a:t>Serverless architecture keeps costs minimal. IAM least-privilege, S3 OAC, no public data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06424"/>
            <a:ext cx="5321808" cy="44622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321808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Monthly Cost Estimate (~500 summaries/month)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54480"/>
            <a:ext cx="5321808" cy="420624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6459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</a:rPr>
              <a:t>Monthly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665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Lambda (4 functions, 512MB, 300s)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665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95728"/>
            <a:ext cx="5321808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871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API Gateway HTTP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487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077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S3 (exports + summaries + SPA)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07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36976"/>
            <a:ext cx="5321808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284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CloudFront (PriceClass_100)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328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49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Anthropic Claude Opus 4 (500 calls)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749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~$7.50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78224"/>
            <a:ext cx="5321808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696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EventBridge Scheduler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1696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$0.00  (free tier)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98848"/>
            <a:ext cx="5321808" cy="420624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90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590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</a:rPr>
              <a:t>~$7.71/month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106424"/>
            <a:ext cx="5596128" cy="2057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53328" y="1078992"/>
            <a:ext cx="559612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Security &amp; Compliance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169255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153619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S3 Block Public Access ON — CloudFront OAC for frontend, no direct bucket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196687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181051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IAM least-privilege — each Lambda has only the permissions it needs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2241193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2084831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Rally API key and Anthropic key stored in SSM Parameter Store (encrypted)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251551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235915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API Gateway no-auth read endpoints — no write surface exposed publicly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278983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263347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All traffic via HTTPS — CloudFront enforces TLS, no HTTP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3273552"/>
            <a:ext cx="5596128" cy="230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53328" y="3246120"/>
            <a:ext cx="559612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Reliability &amp; Observability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388711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373075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EventBridge schedule survives Lambda cold-starts — retries built 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416143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400507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Lambda timeout 300s — handles large Rally workspaces without truncation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443575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427939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Mock mode (VITE_USE_MOCK=true) enables full UI demo without AWS/Rally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471007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4224" y="455371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Presigned S3 URLs expire after 1 hour — no persistent public links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498439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482803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Python pytest + Vitest unit test suites for backend and 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5EA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Roadmap — Where We Can Take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60120"/>
            <a:ext cx="3703320" cy="5193792"/>
          </a:xfrm>
          <a:prstGeom prst="rect">
            <a:avLst/>
          </a:prstGeom>
          <a:solidFill>
            <a:srgbClr val="0E1E32"/>
          </a:solidFill>
          <a:ln w="19050">
            <a:solidFill>
              <a:srgbClr val="2D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3703320" cy="402336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14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490472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781251"/>
            <a:ext cx="9144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Slack / Teams integration — post summary to #sprint-updates automatically after each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971800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3262579"/>
            <a:ext cx="9144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81528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Multi-project support — select from multiple Rally workspaces in a single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4453128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4743907"/>
            <a:ext cx="91440" cy="9144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562856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Trend charts — rolling 6-month velocity and cycle time trend visualization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960120"/>
            <a:ext cx="3703320" cy="5193792"/>
          </a:xfrm>
          <a:prstGeom prst="rect">
            <a:avLst/>
          </a:prstGeom>
          <a:solidFill>
            <a:srgbClr val="0E1E32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960120"/>
            <a:ext cx="370332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014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1490472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781251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Predictive risk scoring — Claude flags stories at risk of missing sprint before it happens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2971800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08576" y="3262579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081528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Jira / Azure DevOps connector — same analytics for teams not on Rally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4453128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08576" y="4743907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4562856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Shareable report links — generate a read-only URL for any summary to share with stakeholders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11312" y="960120"/>
            <a:ext cx="3703320" cy="5193792"/>
          </a:xfrm>
          <a:prstGeom prst="rect">
            <a:avLst/>
          </a:prstGeom>
          <a:solidFill>
            <a:srgbClr val="0E1E32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11312" y="960120"/>
            <a:ext cx="3703320" cy="4023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1014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490472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2208" y="1781251"/>
            <a:ext cx="9144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Executive portfolio view — multi-team rollup with cross-project health scores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971800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22208" y="3262579"/>
            <a:ext cx="9144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081528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Capacity planning assistant — Claude recommends sprint load based on historical velocity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4453128"/>
            <a:ext cx="3310128" cy="133502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22208" y="4743907"/>
            <a:ext cx="9144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562856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Auto-generated retrospective — AI identifies patterns and suggests process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885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809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7733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91695" y="0"/>
            <a:ext cx="18288" cy="6858000"/>
          </a:xfrm>
          <a:prstGeom prst="rect">
            <a:avLst/>
          </a:prstGeom>
          <a:solidFill>
            <a:srgbClr val="1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1">
                <a:solidFill>
                  <a:srgbClr val="94A3B8"/>
                </a:solidFill>
              </a:rPr>
              <a:t>The app is live and running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Your next sprint report writes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D5EA"/>
                </a:solidFill>
              </a:rPr>
              <a:t>https://d28e9pzfl4v2ga.cloudfront.net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01568"/>
            <a:ext cx="3566160" cy="2267712"/>
          </a:xfrm>
          <a:prstGeom prst="rect">
            <a:avLst/>
          </a:prstGeom>
          <a:solidFill>
            <a:srgbClr val="0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401568"/>
            <a:ext cx="3566160" cy="64008"/>
          </a:xfrm>
          <a:prstGeom prst="rect">
            <a:avLst/>
          </a:prstGeom>
          <a:solidFill>
            <a:srgbClr val="2D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Try It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Open the app, trigger a manual export from your Rally workspace, and generate your first AI summary in under 2 minutes.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3401568"/>
            <a:ext cx="3566160" cy="2267712"/>
          </a:xfrm>
          <a:prstGeom prst="rect">
            <a:avLst/>
          </a:prstGeom>
          <a:solidFill>
            <a:srgbClr val="0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3401568"/>
            <a:ext cx="35661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Connect Your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Provide your Rally ZSESSIONID and workspace name — we'll configure the Lambda environment variables and run the first export for you.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3401568"/>
            <a:ext cx="3566160" cy="2267712"/>
          </a:xfrm>
          <a:prstGeom prst="rect">
            <a:avLst/>
          </a:prstGeom>
          <a:solidFill>
            <a:srgbClr val="0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3401568"/>
            <a:ext cx="356616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Request a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Tell us which report formats, integrations, or analytics views would make this tool indispensable to your sprint workflow.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455664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Rally Analysis App  ·  Lambda · Claude Opus 4 · DynamoDB · CloudFront  ·  AWS SAM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